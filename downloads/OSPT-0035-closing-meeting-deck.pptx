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replace the engagement label, owner, and date locally. This template does not authorize a meeting, publish findings, or set an SLA. The facilitator should use the actual report and applicable local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owner to restate the scope and immediate next action. If ownership or a governance route is unresolved, record that explicitly rather than filling it with an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these fields from the actual engagement record. A discovered adjacent system does not enter scope automatically. A finding is bounded by the vantage, method, and evidence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synthetic example, not a real vulnerability report. Point to the protected original request and response, explain the expected policy, and separate observed result from extrapolation.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insert secrets, personal data, or restricted originals into a public slide. Establish the protected system of record and the recipient-safe copy. The adopting practice sets evidence retention and access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each route with a local named team and destination before use. A severity score or enterprise-wide pattern can trigger a different stakeholder conversation, but neither is automatically within this meeting’s decision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missing condition is a readiness gap. Record it without converting it to a missed tester service target. The applicable local workflow determines timing and closure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must be filled from the live discussion and stored in the adopter’s system of record. Name what is unresolved. Do not let the template stand in for report delivery, finding publication, or a formal risk acceptance.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28"/>
        </a:solidFill>
      </p:bgPr>
    </p:bg>
    <p:spTree>
      <p:nvGrpSpPr>
        <p:cNvPr id="1" name=""/>
        <p:cNvGrpSpPr/>
        <p:nvPr/>
      </p:nvGrpSpPr>
      <p:grpSpPr>
        <a:xfrm>
          <a:off x="0" y="0"/>
          <a:ext cx="0" cy="0"/>
          <a:chOff x="0" y="0"/>
          <a:chExt cx="0" cy="0"/>
        </a:xfrm>
      </p:grpSpPr>
      <p:sp>
        <p:nvSpPr>
          <p:cNvPr id="2" name="Shape 0"/>
          <p:cNvSpPr/>
          <p:nvPr/>
        </p:nvSpPr>
        <p:spPr>
          <a:xfrm>
            <a:off x="667512" y="1051560"/>
            <a:ext cx="82296" cy="4480560"/>
          </a:xfrm>
          <a:prstGeom prst="rect">
            <a:avLst>
              <a:gd name="adj" fmla="val 133333"/>
            </a:avLst>
          </a:prstGeom>
          <a:solidFill>
            <a:srgbClr val="2A8C8D"/>
          </a:solidFill>
          <a:ln w="12700">
            <a:solidFill>
              <a:srgbClr val="2A8C8D"/>
            </a:solidFill>
            <a:prstDash val="solid"/>
          </a:ln>
        </p:spPr>
      </p:sp>
      <p:sp>
        <p:nvSpPr>
          <p:cNvPr id="3" name="Text 1"/>
          <p:cNvSpPr/>
          <p:nvPr/>
        </p:nvSpPr>
        <p:spPr>
          <a:xfrm>
            <a:off x="1051560" y="1024128"/>
            <a:ext cx="9692640" cy="274320"/>
          </a:xfrm>
          <a:prstGeom prst="rect">
            <a:avLst/>
          </a:prstGeom>
          <a:noFill/>
          <a:ln/>
        </p:spPr>
        <p:txBody>
          <a:bodyPr wrap="square" lIns="0" tIns="0" rIns="0" bIns="0" rtlCol="0" anchor="ctr">
            <a:normAutofit/>
          </a:bodyPr>
          <a:lstStyle/>
          <a:p>
            <a:pPr algn="l" indent="0" marL="0">
              <a:buNone/>
            </a:pPr>
            <a:r>
              <a:rPr lang="en-US" sz="1500" b="1" spc="200" kern="0" dirty="0">
                <a:solidFill>
                  <a:srgbClr val="CBE9E2"/>
                </a:solidFill>
                <a:latin typeface="Arial" pitchFamily="34" charset="0"/>
                <a:ea typeface="Arial" pitchFamily="34" charset="-122"/>
                <a:cs typeface="Arial" pitchFamily="34" charset="-120"/>
              </a:rPr>
              <a:t>OSPT-0035</a:t>
            </a:r>
            <a:endParaRPr lang="en-US" sz="1500" dirty="0"/>
          </a:p>
        </p:txBody>
      </p:sp>
      <p:sp>
        <p:nvSpPr>
          <p:cNvPr id="4" name="Text 2"/>
          <p:cNvSpPr/>
          <p:nvPr/>
        </p:nvSpPr>
        <p:spPr>
          <a:xfrm>
            <a:off x="1051560" y="1828800"/>
            <a:ext cx="9875520" cy="1225296"/>
          </a:xfrm>
          <a:prstGeom prst="rect">
            <a:avLst/>
          </a:prstGeom>
          <a:noFill/>
          <a:ln/>
        </p:spPr>
        <p:txBody>
          <a:bodyPr wrap="square" lIns="0" tIns="0" rIns="0" bIns="0" rtlCol="0" anchor="ctr">
            <a:normAutofit/>
          </a:bodyPr>
          <a:lstStyle/>
          <a:p>
            <a:pPr algn="l" indent="0" marL="0">
              <a:buNone/>
            </a:pPr>
            <a:r>
              <a:rPr lang="en-US" sz="4200" b="1" dirty="0">
                <a:solidFill>
                  <a:srgbClr val="FFFFFF"/>
                </a:solidFill>
                <a:latin typeface="Arial" pitchFamily="34" charset="0"/>
                <a:ea typeface="Arial" pitchFamily="34" charset="-122"/>
                <a:cs typeface="Arial" pitchFamily="34" charset="-120"/>
              </a:rPr>
              <a:t>Penetration Test Closing Meeting</a:t>
            </a:r>
            <a:endParaRPr lang="en-US" sz="4200" dirty="0"/>
          </a:p>
        </p:txBody>
      </p:sp>
      <p:sp>
        <p:nvSpPr>
          <p:cNvPr id="5" name="Text 3"/>
          <p:cNvSpPr/>
          <p:nvPr/>
        </p:nvSpPr>
        <p:spPr>
          <a:xfrm>
            <a:off x="1069848" y="3419856"/>
            <a:ext cx="9509760" cy="822960"/>
          </a:xfrm>
          <a:prstGeom prst="rect">
            <a:avLst/>
          </a:prstGeom>
          <a:noFill/>
          <a:ln/>
        </p:spPr>
        <p:txBody>
          <a:bodyPr wrap="square" lIns="0" tIns="0" rIns="0" bIns="0" rtlCol="0" anchor="ctr">
            <a:normAutofit/>
          </a:bodyPr>
          <a:lstStyle/>
          <a:p>
            <a:pPr algn="l" indent="0" marL="0">
              <a:buNone/>
            </a:pPr>
            <a:r>
              <a:rPr lang="en-US" sz="2100" dirty="0">
                <a:solidFill>
                  <a:srgbClr val="CBE9E2"/>
                </a:solidFill>
                <a:latin typeface="Arial" pitchFamily="34" charset="0"/>
                <a:ea typeface="Arial" pitchFamily="34" charset="-122"/>
                <a:cs typeface="Arial" pitchFamily="34" charset="-120"/>
              </a:rPr>
              <a:t>Leave with a shared result, a named next decision, and a route back to the testing team.</a:t>
            </a:r>
            <a:endParaRPr lang="en-US" sz="2100" dirty="0"/>
          </a:p>
        </p:txBody>
      </p:sp>
      <p:sp>
        <p:nvSpPr>
          <p:cNvPr id="6" name="Text 4"/>
          <p:cNvSpPr/>
          <p:nvPr/>
        </p:nvSpPr>
        <p:spPr>
          <a:xfrm>
            <a:off x="1069848" y="6181344"/>
            <a:ext cx="9601200" cy="274320"/>
          </a:xfrm>
          <a:prstGeom prst="rect">
            <a:avLst/>
          </a:prstGeom>
          <a:noFill/>
          <a:ln/>
        </p:spPr>
        <p:txBody>
          <a:bodyPr wrap="square" lIns="0" tIns="0" rIns="0" bIns="0" rtlCol="0" anchor="ctr">
            <a:normAutofit/>
          </a:bodyPr>
          <a:lstStyle/>
          <a:p>
            <a:pPr algn="l" indent="0" marL="0">
              <a:buNone/>
            </a:pPr>
            <a:r>
              <a:rPr lang="en-US" sz="1200" dirty="0">
                <a:solidFill>
                  <a:srgbClr val="E0B65D"/>
                </a:solidFill>
                <a:latin typeface="Arial" pitchFamily="34" charset="0"/>
                <a:ea typeface="Arial" pitchFamily="34" charset="-122"/>
                <a:cs typeface="Arial" pitchFamily="34" charset="-120"/>
              </a:rPr>
              <a:t>Editable public template · fictional examples only · adapt locally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MEETING JOB</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What this meeting must settle</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02</a:t>
            </a:r>
            <a:endParaRPr lang="en-US" sz="1000" dirty="0"/>
          </a:p>
        </p:txBody>
      </p:sp>
      <p:sp>
        <p:nvSpPr>
          <p:cNvPr id="7" name="Shape 5"/>
          <p:cNvSpPr/>
          <p:nvPr/>
        </p:nvSpPr>
        <p:spPr>
          <a:xfrm>
            <a:off x="594360" y="1143000"/>
            <a:ext cx="5358384" cy="2048256"/>
          </a:xfrm>
          <a:prstGeom prst="roundRect">
            <a:avLst>
              <a:gd name="adj" fmla="val 5357"/>
            </a:avLst>
          </a:prstGeom>
          <a:solidFill>
            <a:srgbClr val="FFFFFF"/>
          </a:solidFill>
          <a:ln w="12700">
            <a:solidFill>
              <a:srgbClr val="CCD9D7"/>
            </a:solidFill>
            <a:prstDash val="solid"/>
          </a:ln>
        </p:spPr>
      </p:sp>
      <p:sp>
        <p:nvSpPr>
          <p:cNvPr id="8" name="Shape 6"/>
          <p:cNvSpPr/>
          <p:nvPr/>
        </p:nvSpPr>
        <p:spPr>
          <a:xfrm>
            <a:off x="594360" y="1143000"/>
            <a:ext cx="64008" cy="2048256"/>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01 · What was tested?</a:t>
            </a:r>
            <a:endParaRPr lang="en-US" sz="2000" dirty="0"/>
          </a:p>
        </p:txBody>
      </p:sp>
      <p:sp>
        <p:nvSpPr>
          <p:cNvPr id="10" name="Text 8"/>
          <p:cNvSpPr/>
          <p:nvPr/>
        </p:nvSpPr>
        <p:spPr>
          <a:xfrm>
            <a:off x="850392" y="1837944"/>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Confirm scope, dates, access, and meaningful limits. Do not let an untested area inherit the result.</a:t>
            </a:r>
            <a:endParaRPr lang="en-US" sz="1600" dirty="0"/>
          </a:p>
        </p:txBody>
      </p:sp>
      <p:sp>
        <p:nvSpPr>
          <p:cNvPr id="11" name="Shape 9"/>
          <p:cNvSpPr/>
          <p:nvPr/>
        </p:nvSpPr>
        <p:spPr>
          <a:xfrm>
            <a:off x="6236208" y="1143000"/>
            <a:ext cx="5358384" cy="2048256"/>
          </a:xfrm>
          <a:prstGeom prst="roundRect">
            <a:avLst>
              <a:gd name="adj" fmla="val 5357"/>
            </a:avLst>
          </a:prstGeom>
          <a:solidFill>
            <a:srgbClr val="FFFFFF"/>
          </a:solidFill>
          <a:ln w="12700">
            <a:solidFill>
              <a:srgbClr val="CCD9D7"/>
            </a:solidFill>
            <a:prstDash val="solid"/>
          </a:ln>
        </p:spPr>
      </p:sp>
      <p:sp>
        <p:nvSpPr>
          <p:cNvPr id="12" name="Shape 10"/>
          <p:cNvSpPr/>
          <p:nvPr/>
        </p:nvSpPr>
        <p:spPr>
          <a:xfrm>
            <a:off x="6236208" y="1143000"/>
            <a:ext cx="64008" cy="2048256"/>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02 · What was observed?</a:t>
            </a:r>
            <a:endParaRPr lang="en-US" sz="2000" dirty="0"/>
          </a:p>
        </p:txBody>
      </p:sp>
      <p:sp>
        <p:nvSpPr>
          <p:cNvPr id="14" name="Text 12"/>
          <p:cNvSpPr/>
          <p:nvPr/>
        </p:nvSpPr>
        <p:spPr>
          <a:xfrm>
            <a:off x="6492240" y="1837944"/>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Walk the owner through evidence and the exact consequence supported by it.</a:t>
            </a:r>
            <a:endParaRPr lang="en-US" sz="1600" dirty="0"/>
          </a:p>
        </p:txBody>
      </p:sp>
      <p:sp>
        <p:nvSpPr>
          <p:cNvPr id="15" name="Shape 13"/>
          <p:cNvSpPr/>
          <p:nvPr/>
        </p:nvSpPr>
        <p:spPr>
          <a:xfrm>
            <a:off x="594360" y="3456432"/>
            <a:ext cx="5358384" cy="2048256"/>
          </a:xfrm>
          <a:prstGeom prst="roundRect">
            <a:avLst>
              <a:gd name="adj" fmla="val 5357"/>
            </a:avLst>
          </a:prstGeom>
          <a:solidFill>
            <a:srgbClr val="FFFFFF"/>
          </a:solidFill>
          <a:ln w="12700">
            <a:solidFill>
              <a:srgbClr val="CCD9D7"/>
            </a:solidFill>
            <a:prstDash val="solid"/>
          </a:ln>
        </p:spPr>
      </p:sp>
      <p:sp>
        <p:nvSpPr>
          <p:cNvPr id="16" name="Shape 14"/>
          <p:cNvSpPr/>
          <p:nvPr/>
        </p:nvSpPr>
        <p:spPr>
          <a:xfrm>
            <a:off x="594360" y="3456432"/>
            <a:ext cx="64008" cy="2048256"/>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50392" y="3685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03 · Who owns the next move?</a:t>
            </a:r>
            <a:endParaRPr lang="en-US" sz="2000" dirty="0"/>
          </a:p>
        </p:txBody>
      </p:sp>
      <p:sp>
        <p:nvSpPr>
          <p:cNvPr id="18" name="Text 16"/>
          <p:cNvSpPr/>
          <p:nvPr/>
        </p:nvSpPr>
        <p:spPr>
          <a:xfrm>
            <a:off x="850392" y="4151376"/>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Name the issue owner, technical support route, and any separate governance decision.</a:t>
            </a:r>
            <a:endParaRPr lang="en-US" sz="1600" dirty="0"/>
          </a:p>
        </p:txBody>
      </p:sp>
      <p:sp>
        <p:nvSpPr>
          <p:cNvPr id="19" name="Shape 17"/>
          <p:cNvSpPr/>
          <p:nvPr/>
        </p:nvSpPr>
        <p:spPr>
          <a:xfrm>
            <a:off x="6236208" y="3456432"/>
            <a:ext cx="5358384" cy="2048256"/>
          </a:xfrm>
          <a:prstGeom prst="roundRect">
            <a:avLst>
              <a:gd name="adj" fmla="val 5357"/>
            </a:avLst>
          </a:prstGeom>
          <a:solidFill>
            <a:srgbClr val="FFFFFF"/>
          </a:solidFill>
          <a:ln w="12700">
            <a:solidFill>
              <a:srgbClr val="CCD9D7"/>
            </a:solidFill>
            <a:prstDash val="solid"/>
          </a:ln>
        </p:spPr>
      </p:sp>
      <p:sp>
        <p:nvSpPr>
          <p:cNvPr id="20" name="Shape 18"/>
          <p:cNvSpPr/>
          <p:nvPr/>
        </p:nvSpPr>
        <p:spPr>
          <a:xfrm>
            <a:off x="6236208" y="3456432"/>
            <a:ext cx="64008" cy="2048256"/>
          </a:xfrm>
          <a:prstGeom prst="rect">
            <a:avLst>
              <a:gd name="adj" fmla="val 171429"/>
            </a:avLst>
          </a:prstGeom>
          <a:solidFill>
            <a:srgbClr val="2A8C8D"/>
          </a:solidFill>
          <a:ln w="12700">
            <a:solidFill>
              <a:srgbClr val="2A8C8D"/>
            </a:solidFill>
            <a:prstDash val="solid"/>
          </a:ln>
        </p:spPr>
      </p:sp>
      <p:sp>
        <p:nvSpPr>
          <p:cNvPr id="21" name="Text 19"/>
          <p:cNvSpPr/>
          <p:nvPr/>
        </p:nvSpPr>
        <p:spPr>
          <a:xfrm>
            <a:off x="6492240" y="3685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04 · What closes the loop?</a:t>
            </a:r>
            <a:endParaRPr lang="en-US" sz="2000" dirty="0"/>
          </a:p>
        </p:txBody>
      </p:sp>
      <p:sp>
        <p:nvSpPr>
          <p:cNvPr id="22" name="Text 20"/>
          <p:cNvSpPr/>
          <p:nvPr/>
        </p:nvSpPr>
        <p:spPr>
          <a:xfrm>
            <a:off x="6492240" y="4151376"/>
            <a:ext cx="4864608" cy="113385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Agree the change/evidence/retest route and where the official record will live.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RESULT BOUNDARY</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Scope gives every result its ceiling</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03</a:t>
            </a:r>
            <a:endParaRPr lang="en-US" sz="1000" dirty="0"/>
          </a:p>
        </p:txBody>
      </p:sp>
      <p:sp>
        <p:nvSpPr>
          <p:cNvPr id="7" name="Shape 5"/>
          <p:cNvSpPr/>
          <p:nvPr/>
        </p:nvSpPr>
        <p:spPr>
          <a:xfrm>
            <a:off x="594360" y="1143000"/>
            <a:ext cx="3547872" cy="4498848"/>
          </a:xfrm>
          <a:prstGeom prst="roundRect">
            <a:avLst>
              <a:gd name="adj" fmla="val 3093"/>
            </a:avLst>
          </a:prstGeom>
          <a:solidFill>
            <a:srgbClr val="FFFFFF"/>
          </a:solidFill>
          <a:ln w="12700">
            <a:solidFill>
              <a:srgbClr val="CCD9D7"/>
            </a:solidFill>
            <a:prstDash val="solid"/>
          </a:ln>
        </p:spPr>
      </p:sp>
      <p:sp>
        <p:nvSpPr>
          <p:cNvPr id="8" name="Shape 6"/>
          <p:cNvSpPr/>
          <p:nvPr/>
        </p:nvSpPr>
        <p:spPr>
          <a:xfrm>
            <a:off x="594360" y="1143000"/>
            <a:ext cx="64008" cy="4498848"/>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71600"/>
            <a:ext cx="3090672"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TESTED</a:t>
            </a:r>
            <a:endParaRPr lang="en-US" sz="2000" dirty="0"/>
          </a:p>
        </p:txBody>
      </p:sp>
      <p:sp>
        <p:nvSpPr>
          <p:cNvPr id="10" name="Text 8"/>
          <p:cNvSpPr/>
          <p:nvPr/>
        </p:nvSpPr>
        <p:spPr>
          <a:xfrm>
            <a:off x="850392" y="1837944"/>
            <a:ext cx="3054096" cy="3584448"/>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[In-scope assets]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[Test window]</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[Tester starting position]</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[Methods actually exercised]</a:t>
            </a:r>
            <a:endParaRPr lang="en-US" sz="1600" dirty="0"/>
          </a:p>
        </p:txBody>
      </p:sp>
      <p:sp>
        <p:nvSpPr>
          <p:cNvPr id="11" name="Shape 9"/>
          <p:cNvSpPr/>
          <p:nvPr/>
        </p:nvSpPr>
        <p:spPr>
          <a:xfrm>
            <a:off x="4325112" y="1143000"/>
            <a:ext cx="3547872" cy="4498848"/>
          </a:xfrm>
          <a:prstGeom prst="roundRect">
            <a:avLst>
              <a:gd name="adj" fmla="val 3093"/>
            </a:avLst>
          </a:prstGeom>
          <a:solidFill>
            <a:srgbClr val="FFFFFF"/>
          </a:solidFill>
          <a:ln w="12700">
            <a:solidFill>
              <a:srgbClr val="CCD9D7"/>
            </a:solidFill>
            <a:prstDash val="solid"/>
          </a:ln>
        </p:spPr>
      </p:sp>
      <p:sp>
        <p:nvSpPr>
          <p:cNvPr id="12" name="Shape 10"/>
          <p:cNvSpPr/>
          <p:nvPr/>
        </p:nvSpPr>
        <p:spPr>
          <a:xfrm>
            <a:off x="4325112" y="1143000"/>
            <a:ext cx="64008" cy="4498848"/>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4581144" y="1371600"/>
            <a:ext cx="3090672"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NOT TESTED</a:t>
            </a:r>
            <a:endParaRPr lang="en-US" sz="2000" dirty="0"/>
          </a:p>
        </p:txBody>
      </p:sp>
      <p:sp>
        <p:nvSpPr>
          <p:cNvPr id="14" name="Text 12"/>
          <p:cNvSpPr/>
          <p:nvPr/>
        </p:nvSpPr>
        <p:spPr>
          <a:xfrm>
            <a:off x="4581144" y="1837944"/>
            <a:ext cx="3054096" cy="3584448"/>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[Unreachable targets]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[Excluded techniques]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[Unavailable roles]</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[Evidence gaps]</a:t>
            </a:r>
            <a:endParaRPr lang="en-US" sz="1600" dirty="0"/>
          </a:p>
        </p:txBody>
      </p:sp>
      <p:sp>
        <p:nvSpPr>
          <p:cNvPr id="15" name="Shape 13"/>
          <p:cNvSpPr/>
          <p:nvPr/>
        </p:nvSpPr>
        <p:spPr>
          <a:xfrm>
            <a:off x="8055864" y="1143000"/>
            <a:ext cx="3547872" cy="4498848"/>
          </a:xfrm>
          <a:prstGeom prst="roundRect">
            <a:avLst>
              <a:gd name="adj" fmla="val 3093"/>
            </a:avLst>
          </a:prstGeom>
          <a:solidFill>
            <a:srgbClr val="FFFFFF"/>
          </a:solidFill>
          <a:ln w="12700">
            <a:solidFill>
              <a:srgbClr val="CCD9D7"/>
            </a:solidFill>
            <a:prstDash val="solid"/>
          </a:ln>
        </p:spPr>
      </p:sp>
      <p:sp>
        <p:nvSpPr>
          <p:cNvPr id="16" name="Shape 14"/>
          <p:cNvSpPr/>
          <p:nvPr/>
        </p:nvSpPr>
        <p:spPr>
          <a:xfrm>
            <a:off x="8055864" y="1143000"/>
            <a:ext cx="64008" cy="4498848"/>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311896" y="1371600"/>
            <a:ext cx="3090672"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NEXT QUESTION</a:t>
            </a:r>
            <a:endParaRPr lang="en-US" sz="2000" dirty="0"/>
          </a:p>
        </p:txBody>
      </p:sp>
      <p:sp>
        <p:nvSpPr>
          <p:cNvPr id="18" name="Text 16"/>
          <p:cNvSpPr/>
          <p:nvPr/>
        </p:nvSpPr>
        <p:spPr>
          <a:xfrm>
            <a:off x="8311896" y="1837944"/>
            <a:ext cx="3054096" cy="3584448"/>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[Owner / system]</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[Separate scope decision]</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[Needed evidence]</a:t>
            </a:r>
            <a:endParaRPr lang="en-US" sz="1600" dirty="0"/>
          </a:p>
          <a:p>
            <a:pPr algn="l" indent="0" marL="0">
              <a:buNone/>
            </a:pPr>
            <a:r>
              <a:rPr lang="en-US" sz="1600" dirty="0">
                <a:solidFill>
                  <a:srgbClr val="5B7078"/>
                </a:solidFill>
                <a:latin typeface="Arial" pitchFamily="34" charset="0"/>
                <a:ea typeface="Arial" pitchFamily="34" charset="-122"/>
                <a:cs typeface="Arial" pitchFamily="34" charset="-120"/>
              </a:rPr>
              <a:t>[Responsible route]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FICTIONAL EXAMPLE</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A finding is a claim with a boundary</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04</a:t>
            </a:r>
            <a:endParaRPr lang="en-US" sz="1000" dirty="0"/>
          </a:p>
        </p:txBody>
      </p:sp>
      <p:sp>
        <p:nvSpPr>
          <p:cNvPr id="7" name="Shape 5"/>
          <p:cNvSpPr/>
          <p:nvPr/>
        </p:nvSpPr>
        <p:spPr>
          <a:xfrm>
            <a:off x="594360" y="1143000"/>
            <a:ext cx="5358384" cy="1920240"/>
          </a:xfrm>
          <a:prstGeom prst="roundRect">
            <a:avLst>
              <a:gd name="adj" fmla="val 5714"/>
            </a:avLst>
          </a:prstGeom>
          <a:solidFill>
            <a:srgbClr val="FFFFFF"/>
          </a:solidFill>
          <a:ln w="12700">
            <a:solidFill>
              <a:srgbClr val="CCD9D7"/>
            </a:solidFill>
            <a:prstDash val="solid"/>
          </a:ln>
        </p:spPr>
      </p:sp>
      <p:sp>
        <p:nvSpPr>
          <p:cNvPr id="8" name="Shape 6"/>
          <p:cNvSpPr/>
          <p:nvPr/>
        </p:nvSpPr>
        <p:spPr>
          <a:xfrm>
            <a:off x="594360" y="1143000"/>
            <a:ext cx="64008" cy="1920240"/>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EXPECTED</a:t>
            </a:r>
            <a:endParaRPr lang="en-US" sz="2000" dirty="0"/>
          </a:p>
        </p:txBody>
      </p:sp>
      <p:sp>
        <p:nvSpPr>
          <p:cNvPr id="10" name="Text 8"/>
          <p:cNvSpPr/>
          <p:nvPr/>
        </p:nvSpPr>
        <p:spPr>
          <a:xfrm>
            <a:off x="850392" y="1837944"/>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Account A should not receive Account B’s record.</a:t>
            </a:r>
            <a:endParaRPr lang="en-US" sz="1600" dirty="0"/>
          </a:p>
        </p:txBody>
      </p:sp>
      <p:sp>
        <p:nvSpPr>
          <p:cNvPr id="11" name="Shape 9"/>
          <p:cNvSpPr/>
          <p:nvPr/>
        </p:nvSpPr>
        <p:spPr>
          <a:xfrm>
            <a:off x="6236208" y="1143000"/>
            <a:ext cx="5358384" cy="1920240"/>
          </a:xfrm>
          <a:prstGeom prst="roundRect">
            <a:avLst>
              <a:gd name="adj" fmla="val 5714"/>
            </a:avLst>
          </a:prstGeom>
          <a:solidFill>
            <a:srgbClr val="FFFFFF"/>
          </a:solidFill>
          <a:ln w="12700">
            <a:solidFill>
              <a:srgbClr val="CCD9D7"/>
            </a:solidFill>
            <a:prstDash val="solid"/>
          </a:ln>
        </p:spPr>
      </p:sp>
      <p:sp>
        <p:nvSpPr>
          <p:cNvPr id="12" name="Shape 10"/>
          <p:cNvSpPr/>
          <p:nvPr/>
        </p:nvSpPr>
        <p:spPr>
          <a:xfrm>
            <a:off x="6236208" y="1143000"/>
            <a:ext cx="64008" cy="1920240"/>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371600"/>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OBSERVED</a:t>
            </a:r>
            <a:endParaRPr lang="en-US" sz="2000" dirty="0"/>
          </a:p>
        </p:txBody>
      </p:sp>
      <p:sp>
        <p:nvSpPr>
          <p:cNvPr id="14" name="Text 12"/>
          <p:cNvSpPr/>
          <p:nvPr/>
        </p:nvSpPr>
        <p:spPr>
          <a:xfrm>
            <a:off x="6492240" y="1837944"/>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 controlled request using A’s test identity returned one synthetic B record.</a:t>
            </a:r>
            <a:endParaRPr lang="en-US" sz="1600" dirty="0"/>
          </a:p>
        </p:txBody>
      </p:sp>
      <p:sp>
        <p:nvSpPr>
          <p:cNvPr id="15" name="Shape 13"/>
          <p:cNvSpPr/>
          <p:nvPr/>
        </p:nvSpPr>
        <p:spPr>
          <a:xfrm>
            <a:off x="594360" y="3328416"/>
            <a:ext cx="5358384" cy="1920240"/>
          </a:xfrm>
          <a:prstGeom prst="roundRect">
            <a:avLst>
              <a:gd name="adj" fmla="val 5714"/>
            </a:avLst>
          </a:prstGeom>
          <a:solidFill>
            <a:srgbClr val="FFFFFF"/>
          </a:solidFill>
          <a:ln w="12700">
            <a:solidFill>
              <a:srgbClr val="CCD9D7"/>
            </a:solidFill>
            <a:prstDash val="solid"/>
          </a:ln>
        </p:spPr>
      </p:sp>
      <p:sp>
        <p:nvSpPr>
          <p:cNvPr id="16" name="Shape 14"/>
          <p:cNvSpPr/>
          <p:nvPr/>
        </p:nvSpPr>
        <p:spPr>
          <a:xfrm>
            <a:off x="594360" y="3328416"/>
            <a:ext cx="64008" cy="1920240"/>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50392" y="3557016"/>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SUPPORTED IMPACT</a:t>
            </a:r>
            <a:endParaRPr lang="en-US" sz="2000" dirty="0"/>
          </a:p>
        </p:txBody>
      </p:sp>
      <p:sp>
        <p:nvSpPr>
          <p:cNvPr id="18" name="Text 16"/>
          <p:cNvSpPr/>
          <p:nvPr/>
        </p:nvSpPr>
        <p:spPr>
          <a:xfrm>
            <a:off x="850392" y="4023360"/>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Cross-account disclosure in this route under the tested roles and build.</a:t>
            </a:r>
            <a:endParaRPr lang="en-US" sz="1600" dirty="0"/>
          </a:p>
        </p:txBody>
      </p:sp>
      <p:sp>
        <p:nvSpPr>
          <p:cNvPr id="19" name="Shape 17"/>
          <p:cNvSpPr/>
          <p:nvPr/>
        </p:nvSpPr>
        <p:spPr>
          <a:xfrm>
            <a:off x="6236208" y="3328416"/>
            <a:ext cx="5358384" cy="1920240"/>
          </a:xfrm>
          <a:prstGeom prst="roundRect">
            <a:avLst>
              <a:gd name="adj" fmla="val 5714"/>
            </a:avLst>
          </a:prstGeom>
          <a:solidFill>
            <a:srgbClr val="FFFFFF"/>
          </a:solidFill>
          <a:ln w="12700">
            <a:solidFill>
              <a:srgbClr val="CCD9D7"/>
            </a:solidFill>
            <a:prstDash val="solid"/>
          </a:ln>
        </p:spPr>
      </p:sp>
      <p:sp>
        <p:nvSpPr>
          <p:cNvPr id="20" name="Shape 18"/>
          <p:cNvSpPr/>
          <p:nvPr/>
        </p:nvSpPr>
        <p:spPr>
          <a:xfrm>
            <a:off x="6236208" y="3328416"/>
            <a:ext cx="64008" cy="1920240"/>
          </a:xfrm>
          <a:prstGeom prst="rect">
            <a:avLst>
              <a:gd name="adj" fmla="val 171429"/>
            </a:avLst>
          </a:prstGeom>
          <a:solidFill>
            <a:srgbClr val="2A8C8D"/>
          </a:solidFill>
          <a:ln w="12700">
            <a:solidFill>
              <a:srgbClr val="2A8C8D"/>
            </a:solidFill>
            <a:prstDash val="solid"/>
          </a:ln>
        </p:spPr>
      </p:sp>
      <p:sp>
        <p:nvSpPr>
          <p:cNvPr id="21" name="Text 19"/>
          <p:cNvSpPr/>
          <p:nvPr/>
        </p:nvSpPr>
        <p:spPr>
          <a:xfrm>
            <a:off x="6492240" y="3557016"/>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NOT CLAIMED</a:t>
            </a:r>
            <a:endParaRPr lang="en-US" sz="2000" dirty="0"/>
          </a:p>
        </p:txBody>
      </p:sp>
      <p:sp>
        <p:nvSpPr>
          <p:cNvPr id="22" name="Text 20"/>
          <p:cNvSpPr/>
          <p:nvPr/>
        </p:nvSpPr>
        <p:spPr>
          <a:xfrm>
            <a:off x="6492240" y="4023360"/>
            <a:ext cx="4864608" cy="100584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No proof of all records, all tenants, production exposure, or a broader chain.</a:t>
            </a:r>
            <a:endParaRPr lang="en-US" sz="1600" dirty="0"/>
          </a:p>
        </p:txBody>
      </p:sp>
      <p:sp>
        <p:nvSpPr>
          <p:cNvPr id="23" name="Text 21"/>
          <p:cNvSpPr/>
          <p:nvPr/>
        </p:nvSpPr>
        <p:spPr>
          <a:xfrm>
            <a:off x="658368" y="5833872"/>
            <a:ext cx="10607040" cy="256032"/>
          </a:xfrm>
          <a:prstGeom prst="rect">
            <a:avLst/>
          </a:prstGeom>
          <a:noFill/>
          <a:ln/>
        </p:spPr>
        <p:txBody>
          <a:bodyPr wrap="square" lIns="0" tIns="0" rIns="0" bIns="0" rtlCol="0" anchor="ctr">
            <a:normAutofit/>
          </a:bodyPr>
          <a:lstStyle/>
          <a:p>
            <a:pPr algn="l" indent="0" marL="0">
              <a:buNone/>
            </a:pPr>
            <a:r>
              <a:rPr lang="en-US" sz="1300" dirty="0">
                <a:solidFill>
                  <a:srgbClr val="5B7078"/>
                </a:solidFill>
                <a:latin typeface="Arial" pitchFamily="34" charset="0"/>
                <a:ea typeface="Arial" pitchFamily="34" charset="-122"/>
                <a:cs typeface="Arial" pitchFamily="34" charset="-120"/>
              </a:rPr>
              <a:t>Fictional illustration — replace with one real finding from the report.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EVIDENCE</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One packet, two jobs</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05</a:t>
            </a:r>
            <a:endParaRPr lang="en-US" sz="1000" dirty="0"/>
          </a:p>
        </p:txBody>
      </p:sp>
      <p:sp>
        <p:nvSpPr>
          <p:cNvPr id="7" name="Shape 5"/>
          <p:cNvSpPr/>
          <p:nvPr/>
        </p:nvSpPr>
        <p:spPr>
          <a:xfrm>
            <a:off x="594360" y="1197864"/>
            <a:ext cx="5358384" cy="4297680"/>
          </a:xfrm>
          <a:prstGeom prst="roundRect">
            <a:avLst>
              <a:gd name="adj" fmla="val 2553"/>
            </a:avLst>
          </a:prstGeom>
          <a:solidFill>
            <a:srgbClr val="FFFFFF"/>
          </a:solidFill>
          <a:ln w="12700">
            <a:solidFill>
              <a:srgbClr val="CCD9D7"/>
            </a:solidFill>
            <a:prstDash val="solid"/>
          </a:ln>
        </p:spPr>
      </p:sp>
      <p:sp>
        <p:nvSpPr>
          <p:cNvPr id="8" name="Shape 6"/>
          <p:cNvSpPr/>
          <p:nvPr/>
        </p:nvSpPr>
        <p:spPr>
          <a:xfrm>
            <a:off x="594360" y="1197864"/>
            <a:ext cx="64008" cy="4297680"/>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426464"/>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PROTECTED RECORD</a:t>
            </a:r>
            <a:endParaRPr lang="en-US" sz="2000" dirty="0"/>
          </a:p>
        </p:txBody>
      </p:sp>
      <p:sp>
        <p:nvSpPr>
          <p:cNvPr id="10" name="Text 8"/>
          <p:cNvSpPr/>
          <p:nvPr/>
        </p:nvSpPr>
        <p:spPr>
          <a:xfrm>
            <a:off x="850392" y="1892808"/>
            <a:ext cx="4864608" cy="338328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Originals, time/build/identity, reproduction conditions, reviewer disposition, custody and access controls.</a:t>
            </a:r>
            <a:endParaRPr lang="en-US" sz="1600" dirty="0"/>
          </a:p>
        </p:txBody>
      </p:sp>
      <p:sp>
        <p:nvSpPr>
          <p:cNvPr id="11" name="Shape 9"/>
          <p:cNvSpPr/>
          <p:nvPr/>
        </p:nvSpPr>
        <p:spPr>
          <a:xfrm>
            <a:off x="6236208" y="1197864"/>
            <a:ext cx="5358384" cy="4297680"/>
          </a:xfrm>
          <a:prstGeom prst="roundRect">
            <a:avLst>
              <a:gd name="adj" fmla="val 2553"/>
            </a:avLst>
          </a:prstGeom>
          <a:solidFill>
            <a:srgbClr val="FFFFFF"/>
          </a:solidFill>
          <a:ln w="12700">
            <a:solidFill>
              <a:srgbClr val="CCD9D7"/>
            </a:solidFill>
            <a:prstDash val="solid"/>
          </a:ln>
        </p:spPr>
      </p:sp>
      <p:sp>
        <p:nvSpPr>
          <p:cNvPr id="12" name="Shape 10"/>
          <p:cNvSpPr/>
          <p:nvPr/>
        </p:nvSpPr>
        <p:spPr>
          <a:xfrm>
            <a:off x="6236208" y="1197864"/>
            <a:ext cx="64008" cy="4297680"/>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426464"/>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OWNER COPY</a:t>
            </a:r>
            <a:endParaRPr lang="en-US" sz="2000" dirty="0"/>
          </a:p>
        </p:txBody>
      </p:sp>
      <p:sp>
        <p:nvSpPr>
          <p:cNvPr id="14" name="Text 12"/>
          <p:cNvSpPr/>
          <p:nvPr/>
        </p:nvSpPr>
        <p:spPr>
          <a:xfrm>
            <a:off x="6492240" y="1892808"/>
            <a:ext cx="4864608" cy="3383280"/>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Redacted proof, clear remediation direction, affected in-scope instances, and a retest condition.</a:t>
            </a:r>
            <a:endParaRPr lang="en-US" sz="1600" dirty="0"/>
          </a:p>
        </p:txBody>
      </p:sp>
      <p:sp>
        <p:nvSpPr>
          <p:cNvPr id="15" name="Text 13"/>
          <p:cNvSpPr/>
          <p:nvPr/>
        </p:nvSpPr>
        <p:spPr>
          <a:xfrm>
            <a:off x="640080" y="5806440"/>
            <a:ext cx="10789920" cy="411480"/>
          </a:xfrm>
          <a:prstGeom prst="rect">
            <a:avLst/>
          </a:prstGeom>
          <a:noFill/>
          <a:ln/>
        </p:spPr>
        <p:txBody>
          <a:bodyPr wrap="square" lIns="0" tIns="0" rIns="0" bIns="0" rtlCol="0" anchor="ctr">
            <a:normAutofit/>
          </a:bodyPr>
          <a:lstStyle/>
          <a:p>
            <a:pPr algn="l" indent="0" marL="0">
              <a:buNone/>
            </a:pPr>
            <a:r>
              <a:rPr lang="en-US" sz="1500" b="1" dirty="0">
                <a:solidFill>
                  <a:srgbClr val="17252C"/>
                </a:solidFill>
                <a:latin typeface="Arial" pitchFamily="34" charset="0"/>
                <a:ea typeface="Arial" pitchFamily="34" charset="-122"/>
                <a:cs typeface="Arial" pitchFamily="34" charset="-120"/>
              </a:rPr>
              <a:t>A screenshot helps orient. It does not replace a reproducible condition or a protected original.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RESPONSIBILITY</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Route the question to the right owner</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06</a:t>
            </a:r>
            <a:endParaRPr lang="en-US" sz="1000" dirty="0"/>
          </a:p>
        </p:txBody>
      </p:sp>
      <p:sp>
        <p:nvSpPr>
          <p:cNvPr id="7" name="Shape 5"/>
          <p:cNvSpPr/>
          <p:nvPr/>
        </p:nvSpPr>
        <p:spPr>
          <a:xfrm>
            <a:off x="594360" y="1115568"/>
            <a:ext cx="11000232" cy="749808"/>
          </a:xfrm>
          <a:prstGeom prst="roundRect">
            <a:avLst>
              <a:gd name="adj" fmla="val 14634"/>
            </a:avLst>
          </a:prstGeom>
          <a:solidFill>
            <a:srgbClr val="FFFFFF"/>
          </a:solidFill>
          <a:ln w="12700">
            <a:solidFill>
              <a:srgbClr val="CCD9D7"/>
            </a:solidFill>
            <a:prstDash val="solid"/>
          </a:ln>
        </p:spPr>
      </p:sp>
      <p:sp>
        <p:nvSpPr>
          <p:cNvPr id="8" name="Shape 6"/>
          <p:cNvSpPr/>
          <p:nvPr/>
        </p:nvSpPr>
        <p:spPr>
          <a:xfrm>
            <a:off x="594360" y="1115568"/>
            <a:ext cx="73152" cy="749808"/>
          </a:xfrm>
          <a:prstGeom prst="rect">
            <a:avLst>
              <a:gd name="adj" fmla="val 150000"/>
            </a:avLst>
          </a:prstGeom>
          <a:solidFill>
            <a:srgbClr val="2A8C8D"/>
          </a:solidFill>
          <a:ln w="12700">
            <a:solidFill>
              <a:srgbClr val="2A8C8D"/>
            </a:solidFill>
            <a:prstDash val="solid"/>
          </a:ln>
        </p:spPr>
      </p:sp>
      <p:sp>
        <p:nvSpPr>
          <p:cNvPr id="9" name="Text 7"/>
          <p:cNvSpPr/>
          <p:nvPr/>
        </p:nvSpPr>
        <p:spPr>
          <a:xfrm>
            <a:off x="841248" y="1225296"/>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Finding / reproduction</a:t>
            </a:r>
            <a:endParaRPr lang="en-US" sz="1700" dirty="0"/>
          </a:p>
        </p:txBody>
      </p:sp>
      <p:sp>
        <p:nvSpPr>
          <p:cNvPr id="10" name="Text 8"/>
          <p:cNvSpPr/>
          <p:nvPr/>
        </p:nvSpPr>
        <p:spPr>
          <a:xfrm>
            <a:off x="4114800" y="1225296"/>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Testing team explains evidence and retest condition.</a:t>
            </a:r>
            <a:endParaRPr lang="en-US" sz="1600" dirty="0"/>
          </a:p>
        </p:txBody>
      </p:sp>
      <p:sp>
        <p:nvSpPr>
          <p:cNvPr id="11" name="Shape 9"/>
          <p:cNvSpPr/>
          <p:nvPr/>
        </p:nvSpPr>
        <p:spPr>
          <a:xfrm>
            <a:off x="594360" y="2011680"/>
            <a:ext cx="11000232" cy="749808"/>
          </a:xfrm>
          <a:prstGeom prst="roundRect">
            <a:avLst>
              <a:gd name="adj" fmla="val 14634"/>
            </a:avLst>
          </a:prstGeom>
          <a:solidFill>
            <a:srgbClr val="FFFFFF"/>
          </a:solidFill>
          <a:ln w="12700">
            <a:solidFill>
              <a:srgbClr val="CCD9D7"/>
            </a:solidFill>
            <a:prstDash val="solid"/>
          </a:ln>
        </p:spPr>
      </p:sp>
      <p:sp>
        <p:nvSpPr>
          <p:cNvPr id="12" name="Shape 10"/>
          <p:cNvSpPr/>
          <p:nvPr/>
        </p:nvSpPr>
        <p:spPr>
          <a:xfrm>
            <a:off x="594360" y="2011680"/>
            <a:ext cx="73152" cy="749808"/>
          </a:xfrm>
          <a:prstGeom prst="rect">
            <a:avLst>
              <a:gd name="adj" fmla="val 150000"/>
            </a:avLst>
          </a:prstGeom>
          <a:solidFill>
            <a:srgbClr val="E0B65D"/>
          </a:solidFill>
          <a:ln w="12700">
            <a:solidFill>
              <a:srgbClr val="E0B65D"/>
            </a:solidFill>
            <a:prstDash val="solid"/>
          </a:ln>
        </p:spPr>
      </p:sp>
      <p:sp>
        <p:nvSpPr>
          <p:cNvPr id="13" name="Text 11"/>
          <p:cNvSpPr/>
          <p:nvPr/>
        </p:nvSpPr>
        <p:spPr>
          <a:xfrm>
            <a:off x="841248" y="2121408"/>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Remediation design</a:t>
            </a:r>
            <a:endParaRPr lang="en-US" sz="1700" dirty="0"/>
          </a:p>
        </p:txBody>
      </p:sp>
      <p:sp>
        <p:nvSpPr>
          <p:cNvPr id="14" name="Text 12"/>
          <p:cNvSpPr/>
          <p:nvPr/>
        </p:nvSpPr>
        <p:spPr>
          <a:xfrm>
            <a:off x="4114800" y="2121408"/>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System owner and engineering choose and implement the fix.</a:t>
            </a:r>
            <a:endParaRPr lang="en-US" sz="1600" dirty="0"/>
          </a:p>
        </p:txBody>
      </p:sp>
      <p:sp>
        <p:nvSpPr>
          <p:cNvPr id="15" name="Shape 13"/>
          <p:cNvSpPr/>
          <p:nvPr/>
        </p:nvSpPr>
        <p:spPr>
          <a:xfrm>
            <a:off x="594360" y="2907792"/>
            <a:ext cx="11000232" cy="749808"/>
          </a:xfrm>
          <a:prstGeom prst="roundRect">
            <a:avLst>
              <a:gd name="adj" fmla="val 14634"/>
            </a:avLst>
          </a:prstGeom>
          <a:solidFill>
            <a:srgbClr val="FFFFFF"/>
          </a:solidFill>
          <a:ln w="12700">
            <a:solidFill>
              <a:srgbClr val="CCD9D7"/>
            </a:solidFill>
            <a:prstDash val="solid"/>
          </a:ln>
        </p:spPr>
      </p:sp>
      <p:sp>
        <p:nvSpPr>
          <p:cNvPr id="16" name="Shape 14"/>
          <p:cNvSpPr/>
          <p:nvPr/>
        </p:nvSpPr>
        <p:spPr>
          <a:xfrm>
            <a:off x="594360" y="2907792"/>
            <a:ext cx="73152" cy="749808"/>
          </a:xfrm>
          <a:prstGeom prst="rect">
            <a:avLst>
              <a:gd name="adj" fmla="val 150000"/>
            </a:avLst>
          </a:prstGeom>
          <a:solidFill>
            <a:srgbClr val="2A8C8D"/>
          </a:solidFill>
          <a:ln w="12700">
            <a:solidFill>
              <a:srgbClr val="2A8C8D"/>
            </a:solidFill>
            <a:prstDash val="solid"/>
          </a:ln>
        </p:spPr>
      </p:sp>
      <p:sp>
        <p:nvSpPr>
          <p:cNvPr id="17" name="Text 15"/>
          <p:cNvSpPr/>
          <p:nvPr/>
        </p:nvSpPr>
        <p:spPr>
          <a:xfrm>
            <a:off x="841248" y="3017520"/>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Issue record / closure</a:t>
            </a:r>
            <a:endParaRPr lang="en-US" sz="1700" dirty="0"/>
          </a:p>
        </p:txBody>
      </p:sp>
      <p:sp>
        <p:nvSpPr>
          <p:cNvPr id="18" name="Text 16"/>
          <p:cNvSpPr/>
          <p:nvPr/>
        </p:nvSpPr>
        <p:spPr>
          <a:xfrm>
            <a:off x="4114800" y="3017520"/>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Adopter’s vulnerability-management workflow owns state.</a:t>
            </a:r>
            <a:endParaRPr lang="en-US" sz="1600" dirty="0"/>
          </a:p>
        </p:txBody>
      </p:sp>
      <p:sp>
        <p:nvSpPr>
          <p:cNvPr id="19" name="Shape 17"/>
          <p:cNvSpPr/>
          <p:nvPr/>
        </p:nvSpPr>
        <p:spPr>
          <a:xfrm>
            <a:off x="594360" y="3803904"/>
            <a:ext cx="11000232" cy="749808"/>
          </a:xfrm>
          <a:prstGeom prst="roundRect">
            <a:avLst>
              <a:gd name="adj" fmla="val 14634"/>
            </a:avLst>
          </a:prstGeom>
          <a:solidFill>
            <a:srgbClr val="FFFFFF"/>
          </a:solidFill>
          <a:ln w="12700">
            <a:solidFill>
              <a:srgbClr val="CCD9D7"/>
            </a:solidFill>
            <a:prstDash val="solid"/>
          </a:ln>
        </p:spPr>
      </p:sp>
      <p:sp>
        <p:nvSpPr>
          <p:cNvPr id="20" name="Shape 18"/>
          <p:cNvSpPr/>
          <p:nvPr/>
        </p:nvSpPr>
        <p:spPr>
          <a:xfrm>
            <a:off x="594360" y="3803904"/>
            <a:ext cx="73152" cy="749808"/>
          </a:xfrm>
          <a:prstGeom prst="rect">
            <a:avLst>
              <a:gd name="adj" fmla="val 150000"/>
            </a:avLst>
          </a:prstGeom>
          <a:solidFill>
            <a:srgbClr val="E0B65D"/>
          </a:solidFill>
          <a:ln w="12700">
            <a:solidFill>
              <a:srgbClr val="E0B65D"/>
            </a:solidFill>
            <a:prstDash val="solid"/>
          </a:ln>
        </p:spPr>
      </p:sp>
      <p:sp>
        <p:nvSpPr>
          <p:cNvPr id="21" name="Text 19"/>
          <p:cNvSpPr/>
          <p:nvPr/>
        </p:nvSpPr>
        <p:spPr>
          <a:xfrm>
            <a:off x="841248" y="3913632"/>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Risk, exception, deferral</a:t>
            </a:r>
            <a:endParaRPr lang="en-US" sz="1700" dirty="0"/>
          </a:p>
        </p:txBody>
      </p:sp>
      <p:sp>
        <p:nvSpPr>
          <p:cNvPr id="22" name="Text 20"/>
          <p:cNvSpPr/>
          <p:nvPr/>
        </p:nvSpPr>
        <p:spPr>
          <a:xfrm>
            <a:off x="4114800" y="3913632"/>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Governance authority decides; testing team provides technical facts.</a:t>
            </a:r>
            <a:endParaRPr lang="en-US" sz="1600" dirty="0"/>
          </a:p>
        </p:txBody>
      </p:sp>
      <p:sp>
        <p:nvSpPr>
          <p:cNvPr id="23" name="Shape 21"/>
          <p:cNvSpPr/>
          <p:nvPr/>
        </p:nvSpPr>
        <p:spPr>
          <a:xfrm>
            <a:off x="594360" y="4700016"/>
            <a:ext cx="11000232" cy="749808"/>
          </a:xfrm>
          <a:prstGeom prst="roundRect">
            <a:avLst>
              <a:gd name="adj" fmla="val 14634"/>
            </a:avLst>
          </a:prstGeom>
          <a:solidFill>
            <a:srgbClr val="FFFFFF"/>
          </a:solidFill>
          <a:ln w="12700">
            <a:solidFill>
              <a:srgbClr val="CCD9D7"/>
            </a:solidFill>
            <a:prstDash val="solid"/>
          </a:ln>
        </p:spPr>
      </p:sp>
      <p:sp>
        <p:nvSpPr>
          <p:cNvPr id="24" name="Shape 22"/>
          <p:cNvSpPr/>
          <p:nvPr/>
        </p:nvSpPr>
        <p:spPr>
          <a:xfrm>
            <a:off x="594360" y="4700016"/>
            <a:ext cx="73152" cy="749808"/>
          </a:xfrm>
          <a:prstGeom prst="rect">
            <a:avLst>
              <a:gd name="adj" fmla="val 150000"/>
            </a:avLst>
          </a:prstGeom>
          <a:solidFill>
            <a:srgbClr val="2A8C8D"/>
          </a:solidFill>
          <a:ln w="12700">
            <a:solidFill>
              <a:srgbClr val="2A8C8D"/>
            </a:solidFill>
            <a:prstDash val="solid"/>
          </a:ln>
        </p:spPr>
      </p:sp>
      <p:sp>
        <p:nvSpPr>
          <p:cNvPr id="25" name="Text 23"/>
          <p:cNvSpPr/>
          <p:nvPr/>
        </p:nvSpPr>
        <p:spPr>
          <a:xfrm>
            <a:off x="841248" y="4809744"/>
            <a:ext cx="3246120" cy="457200"/>
          </a:xfrm>
          <a:prstGeom prst="rect">
            <a:avLst/>
          </a:prstGeom>
          <a:noFill/>
          <a:ln/>
        </p:spPr>
        <p:txBody>
          <a:bodyPr wrap="square" lIns="0" tIns="0" rIns="0" bIns="0" rtlCol="0" anchor="ctr">
            <a:normAutofit/>
          </a:bodyPr>
          <a:lstStyle/>
          <a:p>
            <a:pPr algn="l" indent="0" marL="0">
              <a:buNone/>
            </a:pPr>
            <a:r>
              <a:rPr lang="en-US" sz="1700" b="1" dirty="0">
                <a:solidFill>
                  <a:srgbClr val="17252C"/>
                </a:solidFill>
                <a:latin typeface="Arial" pitchFamily="34" charset="0"/>
                <a:ea typeface="Arial" pitchFamily="34" charset="-122"/>
                <a:cs typeface="Arial" pitchFamily="34" charset="-120"/>
              </a:rPr>
              <a:t>Urgent broad pattern</a:t>
            </a:r>
            <a:endParaRPr lang="en-US" sz="1700" dirty="0"/>
          </a:p>
        </p:txBody>
      </p:sp>
      <p:sp>
        <p:nvSpPr>
          <p:cNvPr id="26" name="Text 24"/>
          <p:cNvSpPr/>
          <p:nvPr/>
        </p:nvSpPr>
        <p:spPr>
          <a:xfrm>
            <a:off x="4114800" y="4809744"/>
            <a:ext cx="7068312" cy="457200"/>
          </a:xfrm>
          <a:prstGeom prst="rect">
            <a:avLst/>
          </a:prstGeom>
          <a:noFill/>
          <a:ln/>
        </p:spPr>
        <p:txBody>
          <a:bodyPr wrap="square" lIns="0" tIns="0" rIns="0" bIns="0" rtlCol="0" anchor="ctr">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Follow local incident / enterprise-pattern escalation.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RETEST</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Retest starts with readiness, not optimism</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07</a:t>
            </a:r>
            <a:endParaRPr lang="en-US" sz="1000" dirty="0"/>
          </a:p>
        </p:txBody>
      </p:sp>
      <p:sp>
        <p:nvSpPr>
          <p:cNvPr id="7" name="Shape 5"/>
          <p:cNvSpPr/>
          <p:nvPr/>
        </p:nvSpPr>
        <p:spPr>
          <a:xfrm>
            <a:off x="594360" y="1170432"/>
            <a:ext cx="5358384" cy="1956816"/>
          </a:xfrm>
          <a:prstGeom prst="roundRect">
            <a:avLst>
              <a:gd name="adj" fmla="val 5607"/>
            </a:avLst>
          </a:prstGeom>
          <a:solidFill>
            <a:srgbClr val="FFFFFF"/>
          </a:solidFill>
          <a:ln w="12700">
            <a:solidFill>
              <a:srgbClr val="CCD9D7"/>
            </a:solidFill>
            <a:prstDash val="solid"/>
          </a:ln>
        </p:spPr>
      </p:sp>
      <p:sp>
        <p:nvSpPr>
          <p:cNvPr id="8" name="Shape 6"/>
          <p:cNvSpPr/>
          <p:nvPr/>
        </p:nvSpPr>
        <p:spPr>
          <a:xfrm>
            <a:off x="594360" y="1170432"/>
            <a:ext cx="64008" cy="1956816"/>
          </a:xfrm>
          <a:prstGeom prst="rect">
            <a:avLst>
              <a:gd name="adj" fmla="val 171429"/>
            </a:avLst>
          </a:prstGeom>
          <a:solidFill>
            <a:srgbClr val="2A8C8D"/>
          </a:solidFill>
          <a:ln w="12700">
            <a:solidFill>
              <a:srgbClr val="2A8C8D"/>
            </a:solidFill>
            <a:prstDash val="solid"/>
          </a:ln>
        </p:spPr>
      </p:sp>
      <p:sp>
        <p:nvSpPr>
          <p:cNvPr id="9" name="Text 7"/>
          <p:cNvSpPr/>
          <p:nvPr/>
        </p:nvSpPr>
        <p:spPr>
          <a:xfrm>
            <a:off x="850392" y="1399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ENVIRONMENT</a:t>
            </a:r>
            <a:endParaRPr lang="en-US" sz="2000" dirty="0"/>
          </a:p>
        </p:txBody>
      </p:sp>
      <p:sp>
        <p:nvSpPr>
          <p:cNvPr id="10" name="Text 8"/>
          <p:cNvSpPr/>
          <p:nvPr/>
        </p:nvSpPr>
        <p:spPr>
          <a:xfrm>
            <a:off x="850392" y="186537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Named, reachable, and authorized for the retest.</a:t>
            </a:r>
            <a:endParaRPr lang="en-US" sz="1600" dirty="0"/>
          </a:p>
        </p:txBody>
      </p:sp>
      <p:sp>
        <p:nvSpPr>
          <p:cNvPr id="11" name="Shape 9"/>
          <p:cNvSpPr/>
          <p:nvPr/>
        </p:nvSpPr>
        <p:spPr>
          <a:xfrm>
            <a:off x="6236208" y="1170432"/>
            <a:ext cx="5358384" cy="1956816"/>
          </a:xfrm>
          <a:prstGeom prst="roundRect">
            <a:avLst>
              <a:gd name="adj" fmla="val 5607"/>
            </a:avLst>
          </a:prstGeom>
          <a:solidFill>
            <a:srgbClr val="FFFFFF"/>
          </a:solidFill>
          <a:ln w="12700">
            <a:solidFill>
              <a:srgbClr val="CCD9D7"/>
            </a:solidFill>
            <a:prstDash val="solid"/>
          </a:ln>
        </p:spPr>
      </p:sp>
      <p:sp>
        <p:nvSpPr>
          <p:cNvPr id="12" name="Shape 10"/>
          <p:cNvSpPr/>
          <p:nvPr/>
        </p:nvSpPr>
        <p:spPr>
          <a:xfrm>
            <a:off x="6236208" y="1170432"/>
            <a:ext cx="64008" cy="1956816"/>
          </a:xfrm>
          <a:prstGeom prst="rect">
            <a:avLst>
              <a:gd name="adj" fmla="val 171429"/>
            </a:avLst>
          </a:prstGeom>
          <a:solidFill>
            <a:srgbClr val="E0B65D"/>
          </a:solidFill>
          <a:ln w="12700">
            <a:solidFill>
              <a:srgbClr val="E0B65D"/>
            </a:solidFill>
            <a:prstDash val="solid"/>
          </a:ln>
        </p:spPr>
      </p:sp>
      <p:sp>
        <p:nvSpPr>
          <p:cNvPr id="13" name="Text 11"/>
          <p:cNvSpPr/>
          <p:nvPr/>
        </p:nvSpPr>
        <p:spPr>
          <a:xfrm>
            <a:off x="6492240" y="139903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CHANGE</a:t>
            </a:r>
            <a:endParaRPr lang="en-US" sz="2000" dirty="0"/>
          </a:p>
        </p:txBody>
      </p:sp>
      <p:sp>
        <p:nvSpPr>
          <p:cNvPr id="14" name="Text 12"/>
          <p:cNvSpPr/>
          <p:nvPr/>
        </p:nvSpPr>
        <p:spPr>
          <a:xfrm>
            <a:off x="6492240" y="186537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The fix is deployed in that environment; state what changed.</a:t>
            </a:r>
            <a:endParaRPr lang="en-US" sz="1600" dirty="0"/>
          </a:p>
        </p:txBody>
      </p:sp>
      <p:sp>
        <p:nvSpPr>
          <p:cNvPr id="15" name="Shape 13"/>
          <p:cNvSpPr/>
          <p:nvPr/>
        </p:nvSpPr>
        <p:spPr>
          <a:xfrm>
            <a:off x="594360" y="3410712"/>
            <a:ext cx="5358384" cy="1956816"/>
          </a:xfrm>
          <a:prstGeom prst="roundRect">
            <a:avLst>
              <a:gd name="adj" fmla="val 5607"/>
            </a:avLst>
          </a:prstGeom>
          <a:solidFill>
            <a:srgbClr val="FFFFFF"/>
          </a:solidFill>
          <a:ln w="12700">
            <a:solidFill>
              <a:srgbClr val="CCD9D7"/>
            </a:solidFill>
            <a:prstDash val="solid"/>
          </a:ln>
        </p:spPr>
      </p:sp>
      <p:sp>
        <p:nvSpPr>
          <p:cNvPr id="16" name="Shape 14"/>
          <p:cNvSpPr/>
          <p:nvPr/>
        </p:nvSpPr>
        <p:spPr>
          <a:xfrm>
            <a:off x="594360" y="3410712"/>
            <a:ext cx="64008" cy="1956816"/>
          </a:xfrm>
          <a:prstGeom prst="rect">
            <a:avLst>
              <a:gd name="adj" fmla="val 171429"/>
            </a:avLst>
          </a:prstGeom>
          <a:solidFill>
            <a:srgbClr val="E7786A"/>
          </a:solidFill>
          <a:ln w="12700">
            <a:solidFill>
              <a:srgbClr val="E7786A"/>
            </a:solidFill>
            <a:prstDash val="solid"/>
          </a:ln>
        </p:spPr>
      </p:sp>
      <p:sp>
        <p:nvSpPr>
          <p:cNvPr id="17" name="Text 15"/>
          <p:cNvSpPr/>
          <p:nvPr/>
        </p:nvSpPr>
        <p:spPr>
          <a:xfrm>
            <a:off x="850392" y="363931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ACCESS</a:t>
            </a:r>
            <a:endParaRPr lang="en-US" sz="2000" dirty="0"/>
          </a:p>
        </p:txBody>
      </p:sp>
      <p:sp>
        <p:nvSpPr>
          <p:cNvPr id="18" name="Text 16"/>
          <p:cNvSpPr/>
          <p:nvPr/>
        </p:nvSpPr>
        <p:spPr>
          <a:xfrm>
            <a:off x="850392" y="410565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Required test identities, roles, and data are available.</a:t>
            </a:r>
            <a:endParaRPr lang="en-US" sz="1600" dirty="0"/>
          </a:p>
        </p:txBody>
      </p:sp>
      <p:sp>
        <p:nvSpPr>
          <p:cNvPr id="19" name="Shape 17"/>
          <p:cNvSpPr/>
          <p:nvPr/>
        </p:nvSpPr>
        <p:spPr>
          <a:xfrm>
            <a:off x="6236208" y="3410712"/>
            <a:ext cx="5358384" cy="1956816"/>
          </a:xfrm>
          <a:prstGeom prst="roundRect">
            <a:avLst>
              <a:gd name="adj" fmla="val 5607"/>
            </a:avLst>
          </a:prstGeom>
          <a:solidFill>
            <a:srgbClr val="FFFFFF"/>
          </a:solidFill>
          <a:ln w="12700">
            <a:solidFill>
              <a:srgbClr val="CCD9D7"/>
            </a:solidFill>
            <a:prstDash val="solid"/>
          </a:ln>
        </p:spPr>
      </p:sp>
      <p:sp>
        <p:nvSpPr>
          <p:cNvPr id="20" name="Shape 18"/>
          <p:cNvSpPr/>
          <p:nvPr/>
        </p:nvSpPr>
        <p:spPr>
          <a:xfrm>
            <a:off x="6236208" y="3410712"/>
            <a:ext cx="64008" cy="1956816"/>
          </a:xfrm>
          <a:prstGeom prst="rect">
            <a:avLst>
              <a:gd name="adj" fmla="val 171429"/>
            </a:avLst>
          </a:prstGeom>
          <a:solidFill>
            <a:srgbClr val="2A8C8D"/>
          </a:solidFill>
          <a:ln w="12700">
            <a:solidFill>
              <a:srgbClr val="2A8C8D"/>
            </a:solidFill>
            <a:prstDash val="solid"/>
          </a:ln>
        </p:spPr>
      </p:sp>
      <p:sp>
        <p:nvSpPr>
          <p:cNvPr id="21" name="Text 19"/>
          <p:cNvSpPr/>
          <p:nvPr/>
        </p:nvSpPr>
        <p:spPr>
          <a:xfrm>
            <a:off x="6492240" y="3639312"/>
            <a:ext cx="4901184" cy="347472"/>
          </a:xfrm>
          <a:prstGeom prst="rect">
            <a:avLst/>
          </a:prstGeom>
          <a:noFill/>
          <a:ln/>
        </p:spPr>
        <p:txBody>
          <a:bodyPr wrap="square" lIns="0" tIns="0" rIns="0" bIns="0" rtlCol="0" anchor="ctr">
            <a:normAutofit/>
          </a:bodyPr>
          <a:lstStyle/>
          <a:p>
            <a:pPr algn="l" indent="0" marL="0">
              <a:buNone/>
            </a:pPr>
            <a:r>
              <a:rPr lang="en-US" sz="2000" b="1" dirty="0">
                <a:solidFill>
                  <a:srgbClr val="17252C"/>
                </a:solidFill>
                <a:latin typeface="Arial" pitchFamily="34" charset="0"/>
                <a:ea typeface="Arial" pitchFamily="34" charset="-122"/>
                <a:cs typeface="Arial" pitchFamily="34" charset="-120"/>
              </a:rPr>
              <a:t>EVIDENCE</a:t>
            </a:r>
            <a:endParaRPr lang="en-US" sz="2000" dirty="0"/>
          </a:p>
        </p:txBody>
      </p:sp>
      <p:sp>
        <p:nvSpPr>
          <p:cNvPr id="22" name="Text 20"/>
          <p:cNvSpPr/>
          <p:nvPr/>
        </p:nvSpPr>
        <p:spPr>
          <a:xfrm>
            <a:off x="6492240" y="4105656"/>
            <a:ext cx="4864608" cy="1042416"/>
          </a:xfrm>
          <a:prstGeom prst="rect">
            <a:avLst/>
          </a:prstGeom>
          <a:noFill/>
          <a:ln/>
        </p:spPr>
        <p:txBody>
          <a:bodyPr wrap="square" lIns="0" tIns="0" rIns="0" bIns="0" rtlCol="0" anchor="t">
            <a:normAutofit/>
          </a:bodyPr>
          <a:lstStyle/>
          <a:p>
            <a:pPr algn="l" indent="0" marL="0">
              <a:buNone/>
            </a:pPr>
            <a:r>
              <a:rPr lang="en-US" sz="1600" dirty="0">
                <a:solidFill>
                  <a:srgbClr val="5B7078"/>
                </a:solidFill>
                <a:latin typeface="Arial" pitchFamily="34" charset="0"/>
                <a:ea typeface="Arial" pitchFamily="34" charset="-122"/>
                <a:cs typeface="Arial" pitchFamily="34" charset="-120"/>
              </a:rPr>
              <a:t>Owner evidence and expected pass condition are attached.</a:t>
            </a:r>
            <a:endParaRPr lang="en-US" sz="1600" dirty="0"/>
          </a:p>
        </p:txBody>
      </p:sp>
      <p:sp>
        <p:nvSpPr>
          <p:cNvPr id="23" name="Text 21"/>
          <p:cNvSpPr/>
          <p:nvPr/>
        </p:nvSpPr>
        <p:spPr>
          <a:xfrm>
            <a:off x="640080" y="5806440"/>
            <a:ext cx="10789920" cy="365760"/>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The adopter chooses the request channel and service target; this template sets neither.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713232"/>
          </a:xfrm>
          <a:prstGeom prst="rect">
            <a:avLst>
              <a:gd name="adj" fmla="val 15385"/>
            </a:avLst>
          </a:prstGeom>
          <a:solidFill>
            <a:srgbClr val="102028"/>
          </a:solidFill>
          <a:ln w="12700">
            <a:solidFill>
              <a:srgbClr val="102028"/>
            </a:solidFill>
            <a:prstDash val="solid"/>
          </a:ln>
        </p:spPr>
      </p:sp>
      <p:sp>
        <p:nvSpPr>
          <p:cNvPr id="3" name="Text 1"/>
          <p:cNvSpPr/>
          <p:nvPr/>
        </p:nvSpPr>
        <p:spPr>
          <a:xfrm>
            <a:off x="475488" y="118872"/>
            <a:ext cx="3291840" cy="164592"/>
          </a:xfrm>
          <a:prstGeom prst="rect">
            <a:avLst/>
          </a:prstGeom>
          <a:noFill/>
          <a:ln/>
        </p:spPr>
        <p:txBody>
          <a:bodyPr wrap="square" lIns="0" tIns="0" rIns="0" bIns="0" rtlCol="0" anchor="ctr">
            <a:normAutofit/>
          </a:bodyPr>
          <a:lstStyle/>
          <a:p>
            <a:pPr algn="l" indent="0" marL="0">
              <a:buNone/>
            </a:pPr>
            <a:r>
              <a:rPr lang="en-US" sz="1000" b="1" spc="150" kern="0" dirty="0">
                <a:solidFill>
                  <a:srgbClr val="CBE9E2"/>
                </a:solidFill>
                <a:latin typeface="Arial" pitchFamily="34" charset="0"/>
                <a:ea typeface="Arial" pitchFamily="34" charset="-122"/>
                <a:cs typeface="Arial" pitchFamily="34" charset="-120"/>
              </a:rPr>
              <a:t>CLOSE</a:t>
            </a:r>
            <a:endParaRPr lang="en-US" sz="1000" dirty="0"/>
          </a:p>
        </p:txBody>
      </p:sp>
      <p:sp>
        <p:nvSpPr>
          <p:cNvPr id="4" name="Text 2"/>
          <p:cNvSpPr/>
          <p:nvPr/>
        </p:nvSpPr>
        <p:spPr>
          <a:xfrm>
            <a:off x="475488" y="310896"/>
            <a:ext cx="10881360" cy="292608"/>
          </a:xfrm>
          <a:prstGeom prst="rect">
            <a:avLst/>
          </a:prstGeom>
          <a:noFill/>
          <a:ln/>
        </p:spPr>
        <p:txBody>
          <a:bodyPr wrap="square" lIns="0" tIns="0" rIns="0" bIns="0" rtlCol="0" anchor="ctr">
            <a:normAutofit/>
          </a:bodyPr>
          <a:lstStyle/>
          <a:p>
            <a:pPr algn="l" indent="0" marL="0">
              <a:buNone/>
            </a:pPr>
            <a:r>
              <a:rPr lang="en-US" sz="2400" b="1" dirty="0">
                <a:solidFill>
                  <a:srgbClr val="FFFFFF"/>
                </a:solidFill>
                <a:latin typeface="Arial" pitchFamily="34" charset="0"/>
                <a:ea typeface="Arial" pitchFamily="34" charset="-122"/>
                <a:cs typeface="Arial" pitchFamily="34" charset="-120"/>
              </a:rPr>
              <a:t>Leave with a named next move</a:t>
            </a:r>
            <a:endParaRPr lang="en-US" sz="2400" dirty="0"/>
          </a:p>
        </p:txBody>
      </p:sp>
      <p:sp>
        <p:nvSpPr>
          <p:cNvPr id="5" name="Text 3"/>
          <p:cNvSpPr/>
          <p:nvPr/>
        </p:nvSpPr>
        <p:spPr>
          <a:xfrm>
            <a:off x="475488" y="6547104"/>
            <a:ext cx="6400800" cy="137160"/>
          </a:xfrm>
          <a:prstGeom prst="rect">
            <a:avLst/>
          </a:prstGeom>
          <a:noFill/>
          <a:ln/>
        </p:spPr>
        <p:txBody>
          <a:bodyPr wrap="square" lIns="0" tIns="0" rIns="0" bIns="0" rtlCol="0" anchor="ctr">
            <a:normAutofit/>
          </a:bodyPr>
          <a:lstStyle/>
          <a:p>
            <a:pPr algn="l" indent="0" marL="0">
              <a:buNone/>
            </a:pPr>
            <a:r>
              <a:rPr lang="en-US" sz="900" dirty="0">
                <a:solidFill>
                  <a:srgbClr val="5B7078"/>
                </a:solidFill>
                <a:latin typeface="Arial" pitchFamily="34" charset="0"/>
                <a:ea typeface="Arial" pitchFamily="34" charset="-122"/>
                <a:cs typeface="Arial" pitchFamily="34" charset="-120"/>
              </a:rPr>
              <a:t>OSPT · Penetration Testing Practice Framework</a:t>
            </a:r>
            <a:endParaRPr lang="en-US" sz="900" dirty="0"/>
          </a:p>
        </p:txBody>
      </p:sp>
      <p:sp>
        <p:nvSpPr>
          <p:cNvPr id="6" name="Text 4"/>
          <p:cNvSpPr/>
          <p:nvPr/>
        </p:nvSpPr>
        <p:spPr>
          <a:xfrm>
            <a:off x="11274552" y="6510528"/>
            <a:ext cx="438912" cy="164592"/>
          </a:xfrm>
          <a:prstGeom prst="rect">
            <a:avLst/>
          </a:prstGeom>
          <a:noFill/>
          <a:ln/>
        </p:spPr>
        <p:txBody>
          <a:bodyPr wrap="square" lIns="0" tIns="0" rIns="0" bIns="0" rtlCol="0" anchor="ctr">
            <a:normAutofit/>
          </a:bodyPr>
          <a:lstStyle/>
          <a:p>
            <a:pPr algn="r" indent="0" marL="0">
              <a:buNone/>
            </a:pPr>
            <a:r>
              <a:rPr lang="en-US" sz="1000" dirty="0">
                <a:solidFill>
                  <a:srgbClr val="5B7078"/>
                </a:solidFill>
                <a:latin typeface="Arial" pitchFamily="34" charset="0"/>
                <a:ea typeface="Arial" pitchFamily="34" charset="-122"/>
                <a:cs typeface="Arial" pitchFamily="34" charset="-120"/>
              </a:rPr>
              <a:t>08</a:t>
            </a:r>
            <a:endParaRPr lang="en-US" sz="1000" dirty="0"/>
          </a:p>
        </p:txBody>
      </p:sp>
      <p:sp>
        <p:nvSpPr>
          <p:cNvPr id="7" name="Shape 5"/>
          <p:cNvSpPr/>
          <p:nvPr/>
        </p:nvSpPr>
        <p:spPr>
          <a:xfrm>
            <a:off x="594360" y="1325880"/>
            <a:ext cx="3154680" cy="548640"/>
          </a:xfrm>
          <a:prstGeom prst="rect">
            <a:avLst>
              <a:gd name="adj" fmla="val 20000"/>
            </a:avLst>
          </a:prstGeom>
          <a:solidFill>
            <a:srgbClr val="102028"/>
          </a:solidFill>
          <a:ln w="12700">
            <a:solidFill>
              <a:srgbClr val="102028"/>
            </a:solidFill>
            <a:prstDash val="solid"/>
          </a:ln>
        </p:spPr>
      </p:sp>
      <p:sp>
        <p:nvSpPr>
          <p:cNvPr id="8" name="Text 6"/>
          <p:cNvSpPr/>
          <p:nvPr/>
        </p:nvSpPr>
        <p:spPr>
          <a:xfrm>
            <a:off x="740664" y="1435608"/>
            <a:ext cx="2880360"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OPEN ITEM</a:t>
            </a:r>
            <a:endParaRPr lang="en-US" sz="1300" dirty="0"/>
          </a:p>
        </p:txBody>
      </p:sp>
      <p:sp>
        <p:nvSpPr>
          <p:cNvPr id="9" name="Shape 7"/>
          <p:cNvSpPr/>
          <p:nvPr/>
        </p:nvSpPr>
        <p:spPr>
          <a:xfrm>
            <a:off x="3749040" y="1325880"/>
            <a:ext cx="2331720" cy="548640"/>
          </a:xfrm>
          <a:prstGeom prst="rect">
            <a:avLst>
              <a:gd name="adj" fmla="val 20000"/>
            </a:avLst>
          </a:prstGeom>
          <a:solidFill>
            <a:srgbClr val="102028"/>
          </a:solidFill>
          <a:ln w="12700">
            <a:solidFill>
              <a:srgbClr val="102028"/>
            </a:solidFill>
            <a:prstDash val="solid"/>
          </a:ln>
        </p:spPr>
      </p:sp>
      <p:sp>
        <p:nvSpPr>
          <p:cNvPr id="10" name="Text 8"/>
          <p:cNvSpPr/>
          <p:nvPr/>
        </p:nvSpPr>
        <p:spPr>
          <a:xfrm>
            <a:off x="3895344" y="1435608"/>
            <a:ext cx="2057400"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OWNER</a:t>
            </a:r>
            <a:endParaRPr lang="en-US" sz="1300" dirty="0"/>
          </a:p>
        </p:txBody>
      </p:sp>
      <p:sp>
        <p:nvSpPr>
          <p:cNvPr id="11" name="Shape 9"/>
          <p:cNvSpPr/>
          <p:nvPr/>
        </p:nvSpPr>
        <p:spPr>
          <a:xfrm>
            <a:off x="6080760" y="1325880"/>
            <a:ext cx="2532888" cy="548640"/>
          </a:xfrm>
          <a:prstGeom prst="rect">
            <a:avLst>
              <a:gd name="adj" fmla="val 20000"/>
            </a:avLst>
          </a:prstGeom>
          <a:solidFill>
            <a:srgbClr val="102028"/>
          </a:solidFill>
          <a:ln w="12700">
            <a:solidFill>
              <a:srgbClr val="102028"/>
            </a:solidFill>
            <a:prstDash val="solid"/>
          </a:ln>
        </p:spPr>
      </p:sp>
      <p:sp>
        <p:nvSpPr>
          <p:cNvPr id="12" name="Text 10"/>
          <p:cNvSpPr/>
          <p:nvPr/>
        </p:nvSpPr>
        <p:spPr>
          <a:xfrm>
            <a:off x="6227064" y="1435608"/>
            <a:ext cx="2258568"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NEXT ACTION</a:t>
            </a:r>
            <a:endParaRPr lang="en-US" sz="1300" dirty="0"/>
          </a:p>
        </p:txBody>
      </p:sp>
      <p:sp>
        <p:nvSpPr>
          <p:cNvPr id="13" name="Shape 11"/>
          <p:cNvSpPr/>
          <p:nvPr/>
        </p:nvSpPr>
        <p:spPr>
          <a:xfrm>
            <a:off x="8613648" y="1325880"/>
            <a:ext cx="2980944" cy="548640"/>
          </a:xfrm>
          <a:prstGeom prst="rect">
            <a:avLst>
              <a:gd name="adj" fmla="val 20000"/>
            </a:avLst>
          </a:prstGeom>
          <a:solidFill>
            <a:srgbClr val="102028"/>
          </a:solidFill>
          <a:ln w="12700">
            <a:solidFill>
              <a:srgbClr val="102028"/>
            </a:solidFill>
            <a:prstDash val="solid"/>
          </a:ln>
        </p:spPr>
      </p:sp>
      <p:sp>
        <p:nvSpPr>
          <p:cNvPr id="14" name="Text 12"/>
          <p:cNvSpPr/>
          <p:nvPr/>
        </p:nvSpPr>
        <p:spPr>
          <a:xfrm>
            <a:off x="8759952" y="1435608"/>
            <a:ext cx="2706624" cy="237744"/>
          </a:xfrm>
          <a:prstGeom prst="rect">
            <a:avLst/>
          </a:prstGeom>
          <a:noFill/>
          <a:ln/>
        </p:spPr>
        <p:txBody>
          <a:bodyPr wrap="square" lIns="0" tIns="0" rIns="0" bIns="0" rtlCol="0" anchor="ctr">
            <a:normAutofit/>
          </a:bodyPr>
          <a:lstStyle/>
          <a:p>
            <a:pPr algn="l" indent="0" marL="0">
              <a:buNone/>
            </a:pPr>
            <a:r>
              <a:rPr lang="en-US" sz="1300" b="1" dirty="0">
                <a:solidFill>
                  <a:srgbClr val="FFFFFF"/>
                </a:solidFill>
                <a:latin typeface="Arial" pitchFamily="34" charset="0"/>
                <a:ea typeface="Arial" pitchFamily="34" charset="-122"/>
                <a:cs typeface="Arial" pitchFamily="34" charset="-120"/>
              </a:rPr>
              <a:t>RECORD / ROUTE</a:t>
            </a:r>
            <a:endParaRPr lang="en-US" sz="1300" dirty="0"/>
          </a:p>
        </p:txBody>
      </p:sp>
      <p:sp>
        <p:nvSpPr>
          <p:cNvPr id="15" name="Shape 13"/>
          <p:cNvSpPr/>
          <p:nvPr/>
        </p:nvSpPr>
        <p:spPr>
          <a:xfrm>
            <a:off x="594360" y="1874520"/>
            <a:ext cx="3154680" cy="969264"/>
          </a:xfrm>
          <a:prstGeom prst="rect">
            <a:avLst>
              <a:gd name="adj" fmla="val 11321"/>
            </a:avLst>
          </a:prstGeom>
          <a:solidFill>
            <a:srgbClr val="FFFFFF"/>
          </a:solidFill>
          <a:ln w="12700">
            <a:solidFill>
              <a:srgbClr val="CCD9D7"/>
            </a:solidFill>
            <a:prstDash val="solid"/>
          </a:ln>
        </p:spPr>
      </p:sp>
      <p:sp>
        <p:nvSpPr>
          <p:cNvPr id="16" name="Text 14"/>
          <p:cNvSpPr/>
          <p:nvPr/>
        </p:nvSpPr>
        <p:spPr>
          <a:xfrm>
            <a:off x="731520" y="2039112"/>
            <a:ext cx="288036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[Finding / question]</a:t>
            </a:r>
            <a:endParaRPr lang="en-US" sz="1500" dirty="0"/>
          </a:p>
        </p:txBody>
      </p:sp>
      <p:sp>
        <p:nvSpPr>
          <p:cNvPr id="17" name="Shape 15"/>
          <p:cNvSpPr/>
          <p:nvPr/>
        </p:nvSpPr>
        <p:spPr>
          <a:xfrm>
            <a:off x="3749040" y="1874520"/>
            <a:ext cx="2331720" cy="969264"/>
          </a:xfrm>
          <a:prstGeom prst="rect">
            <a:avLst>
              <a:gd name="adj" fmla="val 11321"/>
            </a:avLst>
          </a:prstGeom>
          <a:solidFill>
            <a:srgbClr val="FFFFFF"/>
          </a:solidFill>
          <a:ln w="12700">
            <a:solidFill>
              <a:srgbClr val="CCD9D7"/>
            </a:solidFill>
            <a:prstDash val="solid"/>
          </a:ln>
        </p:spPr>
      </p:sp>
      <p:sp>
        <p:nvSpPr>
          <p:cNvPr id="18" name="Text 16"/>
          <p:cNvSpPr/>
          <p:nvPr/>
        </p:nvSpPr>
        <p:spPr>
          <a:xfrm>
            <a:off x="3886200" y="2039112"/>
            <a:ext cx="205740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[Named owner]</a:t>
            </a:r>
            <a:endParaRPr lang="en-US" sz="1500" dirty="0"/>
          </a:p>
        </p:txBody>
      </p:sp>
      <p:sp>
        <p:nvSpPr>
          <p:cNvPr id="19" name="Shape 17"/>
          <p:cNvSpPr/>
          <p:nvPr/>
        </p:nvSpPr>
        <p:spPr>
          <a:xfrm>
            <a:off x="6080760" y="1874520"/>
            <a:ext cx="2532888" cy="969264"/>
          </a:xfrm>
          <a:prstGeom prst="rect">
            <a:avLst>
              <a:gd name="adj" fmla="val 11321"/>
            </a:avLst>
          </a:prstGeom>
          <a:solidFill>
            <a:srgbClr val="FFFFFF"/>
          </a:solidFill>
          <a:ln w="12700">
            <a:solidFill>
              <a:srgbClr val="CCD9D7"/>
            </a:solidFill>
            <a:prstDash val="solid"/>
          </a:ln>
        </p:spPr>
      </p:sp>
      <p:sp>
        <p:nvSpPr>
          <p:cNvPr id="20" name="Text 18"/>
          <p:cNvSpPr/>
          <p:nvPr/>
        </p:nvSpPr>
        <p:spPr>
          <a:xfrm>
            <a:off x="6217920" y="2039112"/>
            <a:ext cx="2258568"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[Specific step]</a:t>
            </a:r>
            <a:endParaRPr lang="en-US" sz="1500" dirty="0"/>
          </a:p>
        </p:txBody>
      </p:sp>
      <p:sp>
        <p:nvSpPr>
          <p:cNvPr id="21" name="Shape 19"/>
          <p:cNvSpPr/>
          <p:nvPr/>
        </p:nvSpPr>
        <p:spPr>
          <a:xfrm>
            <a:off x="8613648" y="1874520"/>
            <a:ext cx="2980944" cy="969264"/>
          </a:xfrm>
          <a:prstGeom prst="rect">
            <a:avLst>
              <a:gd name="adj" fmla="val 11321"/>
            </a:avLst>
          </a:prstGeom>
          <a:solidFill>
            <a:srgbClr val="FFFFFF"/>
          </a:solidFill>
          <a:ln w="12700">
            <a:solidFill>
              <a:srgbClr val="CCD9D7"/>
            </a:solidFill>
            <a:prstDash val="solid"/>
          </a:ln>
        </p:spPr>
      </p:sp>
      <p:sp>
        <p:nvSpPr>
          <p:cNvPr id="22" name="Text 20"/>
          <p:cNvSpPr/>
          <p:nvPr/>
        </p:nvSpPr>
        <p:spPr>
          <a:xfrm>
            <a:off x="8750808" y="2039112"/>
            <a:ext cx="2706624"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[System / link]</a:t>
            </a:r>
            <a:endParaRPr lang="en-US" sz="1500" dirty="0"/>
          </a:p>
        </p:txBody>
      </p:sp>
      <p:sp>
        <p:nvSpPr>
          <p:cNvPr id="23" name="Shape 21"/>
          <p:cNvSpPr/>
          <p:nvPr/>
        </p:nvSpPr>
        <p:spPr>
          <a:xfrm>
            <a:off x="594360" y="2944368"/>
            <a:ext cx="3154680" cy="969264"/>
          </a:xfrm>
          <a:prstGeom prst="rect">
            <a:avLst>
              <a:gd name="adj" fmla="val 11321"/>
            </a:avLst>
          </a:prstGeom>
          <a:solidFill>
            <a:srgbClr val="FFFFFF"/>
          </a:solidFill>
          <a:ln w="12700">
            <a:solidFill>
              <a:srgbClr val="CCD9D7"/>
            </a:solidFill>
            <a:prstDash val="solid"/>
          </a:ln>
        </p:spPr>
      </p:sp>
      <p:sp>
        <p:nvSpPr>
          <p:cNvPr id="24" name="Text 22"/>
          <p:cNvSpPr/>
          <p:nvPr/>
        </p:nvSpPr>
        <p:spPr>
          <a:xfrm>
            <a:off x="731520" y="3108960"/>
            <a:ext cx="288036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[Finding / question]</a:t>
            </a:r>
            <a:endParaRPr lang="en-US" sz="1500" dirty="0"/>
          </a:p>
        </p:txBody>
      </p:sp>
      <p:sp>
        <p:nvSpPr>
          <p:cNvPr id="25" name="Shape 23"/>
          <p:cNvSpPr/>
          <p:nvPr/>
        </p:nvSpPr>
        <p:spPr>
          <a:xfrm>
            <a:off x="3749040" y="2944368"/>
            <a:ext cx="2331720" cy="969264"/>
          </a:xfrm>
          <a:prstGeom prst="rect">
            <a:avLst>
              <a:gd name="adj" fmla="val 11321"/>
            </a:avLst>
          </a:prstGeom>
          <a:solidFill>
            <a:srgbClr val="FFFFFF"/>
          </a:solidFill>
          <a:ln w="12700">
            <a:solidFill>
              <a:srgbClr val="CCD9D7"/>
            </a:solidFill>
            <a:prstDash val="solid"/>
          </a:ln>
        </p:spPr>
      </p:sp>
      <p:sp>
        <p:nvSpPr>
          <p:cNvPr id="26" name="Text 24"/>
          <p:cNvSpPr/>
          <p:nvPr/>
        </p:nvSpPr>
        <p:spPr>
          <a:xfrm>
            <a:off x="3886200" y="3108960"/>
            <a:ext cx="205740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[Named owner]</a:t>
            </a:r>
            <a:endParaRPr lang="en-US" sz="1500" dirty="0"/>
          </a:p>
        </p:txBody>
      </p:sp>
      <p:sp>
        <p:nvSpPr>
          <p:cNvPr id="27" name="Shape 25"/>
          <p:cNvSpPr/>
          <p:nvPr/>
        </p:nvSpPr>
        <p:spPr>
          <a:xfrm>
            <a:off x="6080760" y="2944368"/>
            <a:ext cx="2532888" cy="969264"/>
          </a:xfrm>
          <a:prstGeom prst="rect">
            <a:avLst>
              <a:gd name="adj" fmla="val 11321"/>
            </a:avLst>
          </a:prstGeom>
          <a:solidFill>
            <a:srgbClr val="FFFFFF"/>
          </a:solidFill>
          <a:ln w="12700">
            <a:solidFill>
              <a:srgbClr val="CCD9D7"/>
            </a:solidFill>
            <a:prstDash val="solid"/>
          </a:ln>
        </p:spPr>
      </p:sp>
      <p:sp>
        <p:nvSpPr>
          <p:cNvPr id="28" name="Text 26"/>
          <p:cNvSpPr/>
          <p:nvPr/>
        </p:nvSpPr>
        <p:spPr>
          <a:xfrm>
            <a:off x="6217920" y="3108960"/>
            <a:ext cx="2258568"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[Specific step]</a:t>
            </a:r>
            <a:endParaRPr lang="en-US" sz="1500" dirty="0"/>
          </a:p>
        </p:txBody>
      </p:sp>
      <p:sp>
        <p:nvSpPr>
          <p:cNvPr id="29" name="Shape 27"/>
          <p:cNvSpPr/>
          <p:nvPr/>
        </p:nvSpPr>
        <p:spPr>
          <a:xfrm>
            <a:off x="8613648" y="2944368"/>
            <a:ext cx="2980944" cy="969264"/>
          </a:xfrm>
          <a:prstGeom prst="rect">
            <a:avLst>
              <a:gd name="adj" fmla="val 11321"/>
            </a:avLst>
          </a:prstGeom>
          <a:solidFill>
            <a:srgbClr val="FFFFFF"/>
          </a:solidFill>
          <a:ln w="12700">
            <a:solidFill>
              <a:srgbClr val="CCD9D7"/>
            </a:solidFill>
            <a:prstDash val="solid"/>
          </a:ln>
        </p:spPr>
      </p:sp>
      <p:sp>
        <p:nvSpPr>
          <p:cNvPr id="30" name="Text 28"/>
          <p:cNvSpPr/>
          <p:nvPr/>
        </p:nvSpPr>
        <p:spPr>
          <a:xfrm>
            <a:off x="8750808" y="3108960"/>
            <a:ext cx="2706624"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[System / link]</a:t>
            </a:r>
            <a:endParaRPr lang="en-US" sz="1500" dirty="0"/>
          </a:p>
        </p:txBody>
      </p:sp>
      <p:sp>
        <p:nvSpPr>
          <p:cNvPr id="31" name="Shape 29"/>
          <p:cNvSpPr/>
          <p:nvPr/>
        </p:nvSpPr>
        <p:spPr>
          <a:xfrm>
            <a:off x="594360" y="4014216"/>
            <a:ext cx="3154680" cy="969264"/>
          </a:xfrm>
          <a:prstGeom prst="rect">
            <a:avLst>
              <a:gd name="adj" fmla="val 11321"/>
            </a:avLst>
          </a:prstGeom>
          <a:solidFill>
            <a:srgbClr val="FFFFFF"/>
          </a:solidFill>
          <a:ln w="12700">
            <a:solidFill>
              <a:srgbClr val="CCD9D7"/>
            </a:solidFill>
            <a:prstDash val="solid"/>
          </a:ln>
        </p:spPr>
      </p:sp>
      <p:sp>
        <p:nvSpPr>
          <p:cNvPr id="32" name="Text 30"/>
          <p:cNvSpPr/>
          <p:nvPr/>
        </p:nvSpPr>
        <p:spPr>
          <a:xfrm>
            <a:off x="731520" y="4178808"/>
            <a:ext cx="288036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[Finding / question]</a:t>
            </a:r>
            <a:endParaRPr lang="en-US" sz="1500" dirty="0"/>
          </a:p>
        </p:txBody>
      </p:sp>
      <p:sp>
        <p:nvSpPr>
          <p:cNvPr id="33" name="Shape 31"/>
          <p:cNvSpPr/>
          <p:nvPr/>
        </p:nvSpPr>
        <p:spPr>
          <a:xfrm>
            <a:off x="3749040" y="4014216"/>
            <a:ext cx="2331720" cy="969264"/>
          </a:xfrm>
          <a:prstGeom prst="rect">
            <a:avLst>
              <a:gd name="adj" fmla="val 11321"/>
            </a:avLst>
          </a:prstGeom>
          <a:solidFill>
            <a:srgbClr val="FFFFFF"/>
          </a:solidFill>
          <a:ln w="12700">
            <a:solidFill>
              <a:srgbClr val="CCD9D7"/>
            </a:solidFill>
            <a:prstDash val="solid"/>
          </a:ln>
        </p:spPr>
      </p:sp>
      <p:sp>
        <p:nvSpPr>
          <p:cNvPr id="34" name="Text 32"/>
          <p:cNvSpPr/>
          <p:nvPr/>
        </p:nvSpPr>
        <p:spPr>
          <a:xfrm>
            <a:off x="3886200" y="4178808"/>
            <a:ext cx="2057400"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[Named owner]</a:t>
            </a:r>
            <a:endParaRPr lang="en-US" sz="1500" dirty="0"/>
          </a:p>
        </p:txBody>
      </p:sp>
      <p:sp>
        <p:nvSpPr>
          <p:cNvPr id="35" name="Shape 33"/>
          <p:cNvSpPr/>
          <p:nvPr/>
        </p:nvSpPr>
        <p:spPr>
          <a:xfrm>
            <a:off x="6080760" y="4014216"/>
            <a:ext cx="2532888" cy="969264"/>
          </a:xfrm>
          <a:prstGeom prst="rect">
            <a:avLst>
              <a:gd name="adj" fmla="val 11321"/>
            </a:avLst>
          </a:prstGeom>
          <a:solidFill>
            <a:srgbClr val="FFFFFF"/>
          </a:solidFill>
          <a:ln w="12700">
            <a:solidFill>
              <a:srgbClr val="CCD9D7"/>
            </a:solidFill>
            <a:prstDash val="solid"/>
          </a:ln>
        </p:spPr>
      </p:sp>
      <p:sp>
        <p:nvSpPr>
          <p:cNvPr id="36" name="Text 34"/>
          <p:cNvSpPr/>
          <p:nvPr/>
        </p:nvSpPr>
        <p:spPr>
          <a:xfrm>
            <a:off x="6217920" y="4178808"/>
            <a:ext cx="2258568"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[Specific step]</a:t>
            </a:r>
            <a:endParaRPr lang="en-US" sz="1500" dirty="0"/>
          </a:p>
        </p:txBody>
      </p:sp>
      <p:sp>
        <p:nvSpPr>
          <p:cNvPr id="37" name="Shape 35"/>
          <p:cNvSpPr/>
          <p:nvPr/>
        </p:nvSpPr>
        <p:spPr>
          <a:xfrm>
            <a:off x="8613648" y="4014216"/>
            <a:ext cx="2980944" cy="969264"/>
          </a:xfrm>
          <a:prstGeom prst="rect">
            <a:avLst>
              <a:gd name="adj" fmla="val 11321"/>
            </a:avLst>
          </a:prstGeom>
          <a:solidFill>
            <a:srgbClr val="FFFFFF"/>
          </a:solidFill>
          <a:ln w="12700">
            <a:solidFill>
              <a:srgbClr val="CCD9D7"/>
            </a:solidFill>
            <a:prstDash val="solid"/>
          </a:ln>
        </p:spPr>
      </p:sp>
      <p:sp>
        <p:nvSpPr>
          <p:cNvPr id="38" name="Text 36"/>
          <p:cNvSpPr/>
          <p:nvPr/>
        </p:nvSpPr>
        <p:spPr>
          <a:xfrm>
            <a:off x="8750808" y="4178808"/>
            <a:ext cx="2706624" cy="585216"/>
          </a:xfrm>
          <a:prstGeom prst="rect">
            <a:avLst/>
          </a:prstGeom>
          <a:noFill/>
          <a:ln/>
        </p:spPr>
        <p:txBody>
          <a:bodyPr wrap="square" lIns="0" tIns="0" rIns="0" bIns="0" rtlCol="0" anchor="ctr">
            <a:normAutofit/>
          </a:bodyPr>
          <a:lstStyle/>
          <a:p>
            <a:pPr algn="l" indent="0" marL="0">
              <a:buNone/>
            </a:pPr>
            <a:r>
              <a:rPr lang="en-US" sz="1500" dirty="0">
                <a:solidFill>
                  <a:srgbClr val="5B7078"/>
                </a:solidFill>
                <a:latin typeface="Arial" pitchFamily="34" charset="0"/>
                <a:ea typeface="Arial" pitchFamily="34" charset="-122"/>
                <a:cs typeface="Arial" pitchFamily="34" charset="-120"/>
              </a:rPr>
              <a:t>[System / link]</a:t>
            </a:r>
            <a:endParaRPr lang="en-US" sz="1500" dirty="0"/>
          </a:p>
        </p:txBody>
      </p:sp>
      <p:sp>
        <p:nvSpPr>
          <p:cNvPr id="39" name="Text 37"/>
          <p:cNvSpPr/>
          <p:nvPr/>
        </p:nvSpPr>
        <p:spPr>
          <a:xfrm>
            <a:off x="658368" y="5806440"/>
            <a:ext cx="10515600" cy="384048"/>
          </a:xfrm>
          <a:prstGeom prst="rect">
            <a:avLst/>
          </a:prstGeom>
          <a:noFill/>
          <a:ln/>
        </p:spPr>
        <p:txBody>
          <a:bodyPr wrap="square" lIns="0" tIns="0" rIns="0" bIns="0" rtlCol="0" anchor="ctr">
            <a:normAutofit/>
          </a:bodyPr>
          <a:lstStyle/>
          <a:p>
            <a:pPr algn="l" indent="0" marL="0">
              <a:buNone/>
            </a:pPr>
            <a:r>
              <a:rPr lang="en-US" sz="1600" b="1" dirty="0">
                <a:solidFill>
                  <a:srgbClr val="17252C"/>
                </a:solidFill>
                <a:latin typeface="Arial" pitchFamily="34" charset="0"/>
                <a:ea typeface="Arial" pitchFamily="34" charset="-122"/>
                <a:cs typeface="Arial" pitchFamily="34" charset="-120"/>
              </a:rPr>
              <a:t>Before ending: confirm the owner heard the same boundary, action, and route.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Rob Hunter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OSPT-0035 Closing Meeting — public template</dc:title>
  <dc:subject>An adaptable post-test closing conversation</dc:subject>
  <dc:creator>Rob Hunter Labs</dc:creator>
  <cp:lastModifiedBy>Rob Hunter Labs</cp:lastModifiedBy>
  <cp:revision>1</cp:revision>
  <dcterms:created xsi:type="dcterms:W3CDTF">2026-10-22T03:26:23Z</dcterms:created>
  <dcterms:modified xsi:type="dcterms:W3CDTF">2026-10-22T03:26:23Z</dcterms:modified>
</cp:coreProperties>
</file>